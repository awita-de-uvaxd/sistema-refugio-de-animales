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antason UltraExpanded Bold" charset="1" panose="00000000000000000000"/>
      <p:regular r:id="rId16"/>
    </p:embeddedFont>
    <p:embeddedFont>
      <p:font typeface="Helvetica World Bold" charset="1" panose="020B08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49878">
            <a:off x="16005582" y="1724908"/>
            <a:ext cx="2074773" cy="2033277"/>
          </a:xfrm>
          <a:custGeom>
            <a:avLst/>
            <a:gdLst/>
            <a:ahLst/>
            <a:cxnLst/>
            <a:rect r="r" b="b" t="t" l="l"/>
            <a:pathLst>
              <a:path h="2033277" w="2074773">
                <a:moveTo>
                  <a:pt x="0" y="0"/>
                </a:moveTo>
                <a:lnTo>
                  <a:pt x="2074772" y="0"/>
                </a:lnTo>
                <a:lnTo>
                  <a:pt x="2074772" y="2033277"/>
                </a:lnTo>
                <a:lnTo>
                  <a:pt x="0" y="203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400" y="1846510"/>
            <a:ext cx="16918203" cy="160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b="true" sz="9399" spc="-657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REFUGI     ESTELAR LAIKA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21538" y="3827083"/>
            <a:ext cx="10623928" cy="7610476"/>
          </a:xfrm>
          <a:custGeom>
            <a:avLst/>
            <a:gdLst/>
            <a:ahLst/>
            <a:cxnLst/>
            <a:rect r="r" b="b" t="t" l="l"/>
            <a:pathLst>
              <a:path h="7610476" w="10623928">
                <a:moveTo>
                  <a:pt x="0" y="0"/>
                </a:moveTo>
                <a:lnTo>
                  <a:pt x="10623928" y="0"/>
                </a:lnTo>
                <a:lnTo>
                  <a:pt x="10623928" y="7610477"/>
                </a:lnTo>
                <a:lnTo>
                  <a:pt x="0" y="7610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084" r="0" b="-5004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31251">
            <a:off x="5670598" y="2224823"/>
            <a:ext cx="969025" cy="914407"/>
          </a:xfrm>
          <a:custGeom>
            <a:avLst/>
            <a:gdLst/>
            <a:ahLst/>
            <a:cxnLst/>
            <a:rect r="r" b="b" t="t" l="l"/>
            <a:pathLst>
              <a:path h="914407" w="969025">
                <a:moveTo>
                  <a:pt x="0" y="0"/>
                </a:moveTo>
                <a:lnTo>
                  <a:pt x="969024" y="0"/>
                </a:lnTo>
                <a:lnTo>
                  <a:pt x="969024" y="914407"/>
                </a:lnTo>
                <a:lnTo>
                  <a:pt x="0" y="914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173200" y="7375599"/>
            <a:ext cx="3086100" cy="1882701"/>
            <a:chOff x="0" y="0"/>
            <a:chExt cx="812800" cy="495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95855"/>
            </a:xfrm>
            <a:custGeom>
              <a:avLst/>
              <a:gdLst/>
              <a:ahLst/>
              <a:cxnLst/>
              <a:rect r="r" b="b" t="t" l="l"/>
              <a:pathLst>
                <a:path h="495855" w="812800">
                  <a:moveTo>
                    <a:pt x="112889" y="0"/>
                  </a:moveTo>
                  <a:lnTo>
                    <a:pt x="699911" y="0"/>
                  </a:lnTo>
                  <a:cubicBezTo>
                    <a:pt x="762258" y="0"/>
                    <a:pt x="812800" y="50542"/>
                    <a:pt x="812800" y="112889"/>
                  </a:cubicBezTo>
                  <a:lnTo>
                    <a:pt x="812800" y="382966"/>
                  </a:lnTo>
                  <a:cubicBezTo>
                    <a:pt x="812800" y="445313"/>
                    <a:pt x="762258" y="495855"/>
                    <a:pt x="699911" y="495855"/>
                  </a:cubicBezTo>
                  <a:lnTo>
                    <a:pt x="112889" y="495855"/>
                  </a:lnTo>
                  <a:cubicBezTo>
                    <a:pt x="50542" y="495855"/>
                    <a:pt x="0" y="445313"/>
                    <a:pt x="0" y="382966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0645" y="4352714"/>
            <a:ext cx="4364816" cy="480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INTEGRANTES: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Daniel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Aeelyn Aricia Pirir Avalos                          3590-26-1437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Darlis Yamilet Acac Tomás</a:t>
            </a: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3590-26-5938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Hugo Rolando Chajón Bocel </a:t>
            </a: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3590-26-2425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  <a:r>
              <a:rPr lang="en-US" sz="1960" spc="-19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Eddy Angel Ottoniel Raxon Contreras     3590-24-2505</a:t>
            </a:r>
          </a:p>
          <a:p>
            <a:pPr algn="l">
              <a:lnSpc>
                <a:spcPts val="2156"/>
              </a:lnSpc>
            </a:pPr>
          </a:p>
          <a:p>
            <a:pPr algn="l">
              <a:lnSpc>
                <a:spcPts val="215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936020" y="8123381"/>
            <a:ext cx="1560461" cy="39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399" b="true">
                <a:solidFill>
                  <a:srgbClr val="2832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GRUPO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191022" y="7545387"/>
            <a:ext cx="16068278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782688"/>
            <a:ext cx="2809345" cy="2977726"/>
            <a:chOff x="0" y="0"/>
            <a:chExt cx="905013" cy="9592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2"/>
              <a:stretch>
                <a:fillRect l="-2996" t="0" r="-2996" b="0"/>
              </a:stretch>
            </a:blipFill>
            <a:ln w="9525" cap="rnd">
              <a:solidFill>
                <a:srgbClr val="FFFEFE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83190" y="3782688"/>
            <a:ext cx="2809345" cy="2977726"/>
            <a:chOff x="0" y="0"/>
            <a:chExt cx="905013" cy="9592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3"/>
              <a:stretch>
                <a:fillRect l="-2996" t="0" r="-2996" b="0"/>
              </a:stretch>
            </a:blipFill>
            <a:ln w="9525" cap="rnd">
              <a:solidFill>
                <a:srgbClr val="FFFEFE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976204" y="3782688"/>
            <a:ext cx="2809345" cy="2977726"/>
            <a:chOff x="0" y="0"/>
            <a:chExt cx="905013" cy="9592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4"/>
              <a:stretch>
                <a:fillRect l="-2996" t="0" r="-2996" b="0"/>
              </a:stretch>
            </a:blipFill>
            <a:ln w="9525" cap="rnd">
              <a:solidFill>
                <a:srgbClr val="FFFEFE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49955" y="3782688"/>
            <a:ext cx="2809345" cy="2977726"/>
            <a:chOff x="0" y="0"/>
            <a:chExt cx="905013" cy="959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5013" cy="959256"/>
            </a:xfrm>
            <a:custGeom>
              <a:avLst/>
              <a:gdLst/>
              <a:ahLst/>
              <a:cxnLst/>
              <a:rect r="r" b="b" t="t" l="l"/>
              <a:pathLst>
                <a:path h="959256" w="905013">
                  <a:moveTo>
                    <a:pt x="124010" y="0"/>
                  </a:moveTo>
                  <a:lnTo>
                    <a:pt x="781003" y="0"/>
                  </a:lnTo>
                  <a:cubicBezTo>
                    <a:pt x="813893" y="0"/>
                    <a:pt x="845435" y="13065"/>
                    <a:pt x="868692" y="36322"/>
                  </a:cubicBezTo>
                  <a:cubicBezTo>
                    <a:pt x="891948" y="59578"/>
                    <a:pt x="905013" y="91120"/>
                    <a:pt x="905013" y="124010"/>
                  </a:cubicBezTo>
                  <a:lnTo>
                    <a:pt x="905013" y="835246"/>
                  </a:lnTo>
                  <a:cubicBezTo>
                    <a:pt x="905013" y="903735"/>
                    <a:pt x="849492" y="959256"/>
                    <a:pt x="781003" y="959256"/>
                  </a:cubicBezTo>
                  <a:lnTo>
                    <a:pt x="124010" y="959256"/>
                  </a:lnTo>
                  <a:cubicBezTo>
                    <a:pt x="91120" y="959256"/>
                    <a:pt x="59578" y="946191"/>
                    <a:pt x="36322" y="922935"/>
                  </a:cubicBezTo>
                  <a:cubicBezTo>
                    <a:pt x="13065" y="899678"/>
                    <a:pt x="0" y="868136"/>
                    <a:pt x="0" y="835246"/>
                  </a:cubicBezTo>
                  <a:lnTo>
                    <a:pt x="0" y="124010"/>
                  </a:lnTo>
                  <a:cubicBezTo>
                    <a:pt x="0" y="55521"/>
                    <a:pt x="55521" y="0"/>
                    <a:pt x="124010" y="0"/>
                  </a:cubicBezTo>
                  <a:close/>
                </a:path>
              </a:pathLst>
            </a:custGeom>
            <a:blipFill>
              <a:blip r:embed="rId5"/>
              <a:stretch>
                <a:fillRect l="-2996" t="0" r="-2996" b="0"/>
              </a:stretch>
            </a:blipFill>
            <a:ln w="9525" cap="rnd">
              <a:solidFill>
                <a:srgbClr val="FFFEFE"/>
              </a:soli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7411001"/>
            <a:ext cx="268772" cy="268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502452" y="7411001"/>
            <a:ext cx="268772" cy="26877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76204" y="7411001"/>
            <a:ext cx="268772" cy="2687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49955" y="7411001"/>
            <a:ext cx="268772" cy="26877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2186281"/>
            <a:ext cx="5316062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Contamos con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00306" y="2186281"/>
            <a:ext cx="8361140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modulos principales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63596" y="2186281"/>
            <a:ext cx="648532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969250"/>
            <a:ext cx="2809345" cy="4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18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1. Adopta</a:t>
            </a:r>
            <a:r>
              <a:rPr lang="en-US" b="true" sz="1800" spc="-1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nte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8614140"/>
            <a:ext cx="2809345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Catál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ogo de mascotas, compras en Shop, CV de adopción, donaciones y alertas.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502452" y="7969250"/>
            <a:ext cx="2809345" cy="4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18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2.</a:t>
            </a:r>
            <a:r>
              <a:rPr lang="en-US" b="true" sz="1800" spc="-1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Administrador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502452" y="8614140"/>
            <a:ext cx="2809345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Apr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obaciones, auditoría de empleados, ventas, usuarios y CMS web.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9976204" y="7969250"/>
            <a:ext cx="2809345" cy="4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18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3. R</a:t>
            </a:r>
            <a:r>
              <a:rPr lang="en-US" b="true" sz="1800" spc="-1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escatista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976204" y="8614140"/>
            <a:ext cx="2809345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Recepció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 de alertas en tiempo real, fichas de campo y registro de rescates.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4449955" y="7969250"/>
            <a:ext cx="2809345" cy="4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18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4. Veteri</a:t>
            </a:r>
            <a:r>
              <a:rPr lang="en-US" b="true" sz="1800" spc="-1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nario</a:t>
            </a:r>
          </a:p>
          <a:p>
            <a:pPr algn="l">
              <a:lnSpc>
                <a:spcPts val="198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4449955" y="8614140"/>
            <a:ext cx="2809345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Expedien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 médicos clínicos, recetas, vacunas y credenciales de pacientes.</a:t>
            </a:r>
          </a:p>
          <a:p>
            <a:pPr algn="l">
              <a:lnSpc>
                <a:spcPts val="15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641036" y="1906349"/>
            <a:ext cx="4540750" cy="3267504"/>
            <a:chOff x="0" y="0"/>
            <a:chExt cx="928093" cy="667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8093" cy="667852"/>
            </a:xfrm>
            <a:custGeom>
              <a:avLst/>
              <a:gdLst/>
              <a:ahLst/>
              <a:cxnLst/>
              <a:rect r="r" b="b" t="t" l="l"/>
              <a:pathLst>
                <a:path h="667852" w="928093">
                  <a:moveTo>
                    <a:pt x="76724" y="0"/>
                  </a:moveTo>
                  <a:lnTo>
                    <a:pt x="851369" y="0"/>
                  </a:lnTo>
                  <a:cubicBezTo>
                    <a:pt x="893743" y="0"/>
                    <a:pt x="928093" y="34351"/>
                    <a:pt x="928093" y="76724"/>
                  </a:cubicBezTo>
                  <a:lnTo>
                    <a:pt x="928093" y="591127"/>
                  </a:lnTo>
                  <a:cubicBezTo>
                    <a:pt x="928093" y="611476"/>
                    <a:pt x="920010" y="630991"/>
                    <a:pt x="905621" y="645380"/>
                  </a:cubicBezTo>
                  <a:cubicBezTo>
                    <a:pt x="891233" y="659768"/>
                    <a:pt x="871718" y="667852"/>
                    <a:pt x="851369" y="667852"/>
                  </a:cubicBezTo>
                  <a:lnTo>
                    <a:pt x="76724" y="667852"/>
                  </a:lnTo>
                  <a:cubicBezTo>
                    <a:pt x="56376" y="667852"/>
                    <a:pt x="36861" y="659768"/>
                    <a:pt x="22472" y="645380"/>
                  </a:cubicBezTo>
                  <a:cubicBezTo>
                    <a:pt x="8083" y="630991"/>
                    <a:pt x="0" y="611476"/>
                    <a:pt x="0" y="591127"/>
                  </a:cubicBezTo>
                  <a:lnTo>
                    <a:pt x="0" y="76724"/>
                  </a:lnTo>
                  <a:cubicBezTo>
                    <a:pt x="0" y="56376"/>
                    <a:pt x="8083" y="36861"/>
                    <a:pt x="22472" y="22472"/>
                  </a:cubicBezTo>
                  <a:cubicBezTo>
                    <a:pt x="36861" y="8083"/>
                    <a:pt x="56376" y="0"/>
                    <a:pt x="76724" y="0"/>
                  </a:cubicBezTo>
                  <a:close/>
                </a:path>
              </a:pathLst>
            </a:custGeom>
            <a:blipFill>
              <a:blip r:embed="rId2"/>
              <a:stretch>
                <a:fillRect l="-17187" t="0" r="-22126" b="-26178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427730" y="6622074"/>
            <a:ext cx="4273555" cy="3466732"/>
            <a:chOff x="0" y="0"/>
            <a:chExt cx="873481" cy="7085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3481" cy="708573"/>
            </a:xfrm>
            <a:custGeom>
              <a:avLst/>
              <a:gdLst/>
              <a:ahLst/>
              <a:cxnLst/>
              <a:rect r="r" b="b" t="t" l="l"/>
              <a:pathLst>
                <a:path h="708573" w="873481">
                  <a:moveTo>
                    <a:pt x="81521" y="0"/>
                  </a:moveTo>
                  <a:lnTo>
                    <a:pt x="791959" y="0"/>
                  </a:lnTo>
                  <a:cubicBezTo>
                    <a:pt x="813580" y="0"/>
                    <a:pt x="834315" y="8589"/>
                    <a:pt x="849604" y="23877"/>
                  </a:cubicBezTo>
                  <a:cubicBezTo>
                    <a:pt x="864892" y="39165"/>
                    <a:pt x="873481" y="59901"/>
                    <a:pt x="873481" y="81521"/>
                  </a:cubicBezTo>
                  <a:lnTo>
                    <a:pt x="873481" y="627051"/>
                  </a:lnTo>
                  <a:cubicBezTo>
                    <a:pt x="873481" y="648672"/>
                    <a:pt x="864892" y="669407"/>
                    <a:pt x="849604" y="684696"/>
                  </a:cubicBezTo>
                  <a:cubicBezTo>
                    <a:pt x="834315" y="699984"/>
                    <a:pt x="813580" y="708573"/>
                    <a:pt x="791959" y="708573"/>
                  </a:cubicBezTo>
                  <a:lnTo>
                    <a:pt x="81521" y="708573"/>
                  </a:lnTo>
                  <a:cubicBezTo>
                    <a:pt x="36498" y="708573"/>
                    <a:pt x="0" y="672074"/>
                    <a:pt x="0" y="627051"/>
                  </a:cubicBezTo>
                  <a:lnTo>
                    <a:pt x="0" y="81521"/>
                  </a:lnTo>
                  <a:cubicBezTo>
                    <a:pt x="0" y="59901"/>
                    <a:pt x="8589" y="39165"/>
                    <a:pt x="23877" y="23877"/>
                  </a:cubicBezTo>
                  <a:cubicBezTo>
                    <a:pt x="39165" y="8589"/>
                    <a:pt x="59901" y="0"/>
                    <a:pt x="8152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98" r="0" b="-898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5025124"/>
            <a:ext cx="5360812" cy="1882701"/>
            <a:chOff x="0" y="0"/>
            <a:chExt cx="1411901" cy="4958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375599"/>
            <a:ext cx="5360812" cy="1882701"/>
            <a:chOff x="0" y="0"/>
            <a:chExt cx="1411901" cy="4958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1168" y="5025124"/>
            <a:ext cx="5360812" cy="1882701"/>
            <a:chOff x="0" y="0"/>
            <a:chExt cx="1411901" cy="4958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1168" y="7375599"/>
            <a:ext cx="5360812" cy="1882701"/>
            <a:chOff x="0" y="0"/>
            <a:chExt cx="1411901" cy="4958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88569" y="6406881"/>
            <a:ext cx="215194" cy="215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88569" y="8757356"/>
            <a:ext cx="215194" cy="21519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41036" y="6406881"/>
            <a:ext cx="215194" cy="2151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41036" y="8757356"/>
            <a:ext cx="215194" cy="2151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93451" y="3634694"/>
            <a:ext cx="3976671" cy="3466732"/>
            <a:chOff x="0" y="0"/>
            <a:chExt cx="812800" cy="7085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70263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8700" y="2243431"/>
            <a:ext cx="9150016" cy="107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3236872"/>
            <a:ext cx="9255614" cy="72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5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Usuario / A</a:t>
            </a:r>
            <a:r>
              <a:rPr lang="en-US" b="true" sz="5499" spc="-54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doptante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4394" y="5406160"/>
            <a:ext cx="4669369" cy="81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 spc="-21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Experiencia del Cliente y Solicitante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186861" y="5406160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Evaluación CV de Adopción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434394" y="6094756"/>
            <a:ext cx="4169314" cy="21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suario / Adoptante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34394" y="8326475"/>
            <a:ext cx="4169314" cy="6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E-commerce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con seguimiento en vivo por código de orden en 5 etapas y descarga de factura en PDF.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86861" y="5902562"/>
            <a:ext cx="416931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rmulario riguroso de 6 fases (vivienda, presupuesto, historial y referencias) para habilitar el perfil del solicitante.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186861" y="8445231"/>
            <a:ext cx="416931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isión de alertas por animales en emergencia e información transparente de cuentas de acopio.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7126889" y="7746852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Alertas y Donaciones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34394" y="7865609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Huellitas Shop y Rastreos</a:t>
            </a:r>
          </a:p>
          <a:p>
            <a:pPr algn="l">
              <a:lnSpc>
                <a:spcPts val="2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356175" y="1875996"/>
            <a:ext cx="3976671" cy="3267504"/>
            <a:chOff x="0" y="0"/>
            <a:chExt cx="812800" cy="667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667852"/>
            </a:xfrm>
            <a:custGeom>
              <a:avLst/>
              <a:gdLst/>
              <a:ahLst/>
              <a:cxnLst/>
              <a:rect r="r" b="b" t="t" l="l"/>
              <a:pathLst>
                <a:path h="667852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580244"/>
                  </a:lnTo>
                  <a:cubicBezTo>
                    <a:pt x="812800" y="628629"/>
                    <a:pt x="773577" y="667852"/>
                    <a:pt x="725192" y="667852"/>
                  </a:cubicBezTo>
                  <a:lnTo>
                    <a:pt x="87608" y="667852"/>
                  </a:lnTo>
                  <a:cubicBezTo>
                    <a:pt x="39223" y="667852"/>
                    <a:pt x="0" y="628629"/>
                    <a:pt x="0" y="580244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2"/>
              <a:stretch>
                <a:fillRect l="-1866" t="-16044" r="-155164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069919" y="3627574"/>
            <a:ext cx="3976671" cy="3466732"/>
            <a:chOff x="0" y="0"/>
            <a:chExt cx="812800" cy="7085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3"/>
              <a:stretch>
                <a:fillRect l="-101551" t="-13735" r="-13719" b="-44546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27730" y="6702340"/>
            <a:ext cx="3976671" cy="3466732"/>
            <a:chOff x="0" y="0"/>
            <a:chExt cx="812800" cy="7085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85984" b="-58371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5025124"/>
            <a:ext cx="5360812" cy="1882701"/>
            <a:chOff x="0" y="0"/>
            <a:chExt cx="1411901" cy="495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375599"/>
            <a:ext cx="5360812" cy="1882701"/>
            <a:chOff x="0" y="0"/>
            <a:chExt cx="1411901" cy="4958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1168" y="5025124"/>
            <a:ext cx="5360812" cy="1882701"/>
            <a:chOff x="0" y="0"/>
            <a:chExt cx="1411901" cy="4958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1168" y="7375599"/>
            <a:ext cx="5360812" cy="1882701"/>
            <a:chOff x="0" y="0"/>
            <a:chExt cx="1411901" cy="4958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88569" y="6406881"/>
            <a:ext cx="215194" cy="2151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88569" y="8757356"/>
            <a:ext cx="215194" cy="21519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41036" y="6406881"/>
            <a:ext cx="215194" cy="21519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41036" y="8757356"/>
            <a:ext cx="215194" cy="21519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2243431"/>
            <a:ext cx="9150016" cy="107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2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3236872"/>
            <a:ext cx="9255614" cy="72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5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Administrador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4394" y="5406160"/>
            <a:ext cx="4669369" cy="81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 spc="-21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Panel Principal y Gestión de Solicitudes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186861" y="5406160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Panel de Aprobaciones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434394" y="6094756"/>
            <a:ext cx="4169314" cy="41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Mód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ulo 02 — Administrador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434394" y="8326475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Bandeja de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postulantes y editor dinámico de descripciones y fotografías para programas.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7186861" y="5902562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Ag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rupamiento automático de solicitudes de adopción y reclamos pendientes por mascota.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186861" y="8445231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Actual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ización instantánea de números bancarios institucionales y direcciones de sedes físicas.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7126889" y="7746852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Edición de Donaciones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34394" y="7865609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Gestión de Voluntariado</a:t>
            </a:r>
          </a:p>
          <a:p>
            <a:pPr algn="l">
              <a:lnSpc>
                <a:spcPts val="2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014806" y="4553814"/>
            <a:ext cx="9112363" cy="6802458"/>
            <a:chOff x="0" y="0"/>
            <a:chExt cx="2399964" cy="17915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9964" cy="1791594"/>
            </a:xfrm>
            <a:custGeom>
              <a:avLst/>
              <a:gdLst/>
              <a:ahLst/>
              <a:cxnLst/>
              <a:rect r="r" b="b" t="t" l="l"/>
              <a:pathLst>
                <a:path h="1791594" w="2399964">
                  <a:moveTo>
                    <a:pt x="38232" y="0"/>
                  </a:moveTo>
                  <a:lnTo>
                    <a:pt x="2361732" y="0"/>
                  </a:lnTo>
                  <a:cubicBezTo>
                    <a:pt x="2371872" y="0"/>
                    <a:pt x="2381596" y="4028"/>
                    <a:pt x="2388766" y="11198"/>
                  </a:cubicBezTo>
                  <a:cubicBezTo>
                    <a:pt x="2395936" y="18368"/>
                    <a:pt x="2399964" y="28092"/>
                    <a:pt x="2399964" y="38232"/>
                  </a:cubicBezTo>
                  <a:lnTo>
                    <a:pt x="2399964" y="1753362"/>
                  </a:lnTo>
                  <a:cubicBezTo>
                    <a:pt x="2399964" y="1774477"/>
                    <a:pt x="2382847" y="1791594"/>
                    <a:pt x="2361732" y="1791594"/>
                  </a:cubicBezTo>
                  <a:lnTo>
                    <a:pt x="38232" y="1791594"/>
                  </a:lnTo>
                  <a:cubicBezTo>
                    <a:pt x="28092" y="1791594"/>
                    <a:pt x="18368" y="1787566"/>
                    <a:pt x="11198" y="1780396"/>
                  </a:cubicBezTo>
                  <a:cubicBezTo>
                    <a:pt x="4028" y="1773226"/>
                    <a:pt x="0" y="1763501"/>
                    <a:pt x="0" y="1753362"/>
                  </a:cubicBezTo>
                  <a:lnTo>
                    <a:pt x="0" y="38232"/>
                  </a:lnTo>
                  <a:cubicBezTo>
                    <a:pt x="0" y="28092"/>
                    <a:pt x="4028" y="18368"/>
                    <a:pt x="11198" y="11198"/>
                  </a:cubicBezTo>
                  <a:cubicBezTo>
                    <a:pt x="18368" y="4028"/>
                    <a:pt x="28092" y="0"/>
                    <a:pt x="38232" y="0"/>
                  </a:cubicBezTo>
                  <a:close/>
                </a:path>
              </a:pathLst>
            </a:custGeom>
            <a:solidFill>
              <a:srgbClr val="FFE5D5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99964" cy="182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6887" y="2761968"/>
            <a:ext cx="5176821" cy="4253629"/>
            <a:chOff x="0" y="0"/>
            <a:chExt cx="812800" cy="667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67852"/>
            </a:xfrm>
            <a:custGeom>
              <a:avLst/>
              <a:gdLst/>
              <a:ahLst/>
              <a:cxnLst/>
              <a:rect r="r" b="b" t="t" l="l"/>
              <a:pathLst>
                <a:path h="667852" w="812800">
                  <a:moveTo>
                    <a:pt x="67297" y="0"/>
                  </a:moveTo>
                  <a:lnTo>
                    <a:pt x="745503" y="0"/>
                  </a:lnTo>
                  <a:cubicBezTo>
                    <a:pt x="782670" y="0"/>
                    <a:pt x="812800" y="30130"/>
                    <a:pt x="812800" y="67297"/>
                  </a:cubicBezTo>
                  <a:lnTo>
                    <a:pt x="812800" y="600555"/>
                  </a:lnTo>
                  <a:cubicBezTo>
                    <a:pt x="812800" y="637722"/>
                    <a:pt x="782670" y="667852"/>
                    <a:pt x="745503" y="667852"/>
                  </a:cubicBezTo>
                  <a:lnTo>
                    <a:pt x="67297" y="667852"/>
                  </a:lnTo>
                  <a:cubicBezTo>
                    <a:pt x="30130" y="667852"/>
                    <a:pt x="0" y="637722"/>
                    <a:pt x="0" y="600555"/>
                  </a:cubicBezTo>
                  <a:lnTo>
                    <a:pt x="0" y="67297"/>
                  </a:lnTo>
                  <a:cubicBezTo>
                    <a:pt x="0" y="30130"/>
                    <a:pt x="30130" y="0"/>
                    <a:pt x="67297" y="0"/>
                  </a:cubicBezTo>
                  <a:close/>
                </a:path>
              </a:pathLst>
            </a:custGeom>
            <a:blipFill>
              <a:blip r:embed="rId2"/>
              <a:stretch>
                <a:fillRect l="-4587" t="-17256" r="-126716" b="-119614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520081" y="5818506"/>
            <a:ext cx="4789382" cy="4175227"/>
            <a:chOff x="0" y="0"/>
            <a:chExt cx="812800" cy="7085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72741" y="0"/>
                  </a:moveTo>
                  <a:lnTo>
                    <a:pt x="740059" y="0"/>
                  </a:lnTo>
                  <a:cubicBezTo>
                    <a:pt x="780233" y="0"/>
                    <a:pt x="812800" y="32567"/>
                    <a:pt x="812800" y="72741"/>
                  </a:cubicBezTo>
                  <a:lnTo>
                    <a:pt x="812800" y="635831"/>
                  </a:lnTo>
                  <a:cubicBezTo>
                    <a:pt x="812800" y="676005"/>
                    <a:pt x="780233" y="708573"/>
                    <a:pt x="740059" y="708573"/>
                  </a:cubicBezTo>
                  <a:lnTo>
                    <a:pt x="72741" y="708573"/>
                  </a:lnTo>
                  <a:cubicBezTo>
                    <a:pt x="32567" y="708573"/>
                    <a:pt x="0" y="676005"/>
                    <a:pt x="0" y="635831"/>
                  </a:cubicBezTo>
                  <a:lnTo>
                    <a:pt x="0" y="72741"/>
                  </a:lnTo>
                  <a:cubicBezTo>
                    <a:pt x="0" y="32567"/>
                    <a:pt x="32567" y="0"/>
                    <a:pt x="72741" y="0"/>
                  </a:cubicBezTo>
                  <a:close/>
                </a:path>
              </a:pathLst>
            </a:custGeom>
            <a:blipFill>
              <a:blip r:embed="rId3"/>
              <a:stretch>
                <a:fillRect l="-8531" t="-44477" r="-173273" b="-79638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AutoShape 10" id="10"/>
          <p:cNvSpPr/>
          <p:nvPr/>
        </p:nvSpPr>
        <p:spPr>
          <a:xfrm>
            <a:off x="9298412" y="4304978"/>
            <a:ext cx="7960888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1405702" y="4650863"/>
            <a:ext cx="3735980" cy="2279166"/>
            <a:chOff x="0" y="0"/>
            <a:chExt cx="812800" cy="4958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95855"/>
            </a:xfrm>
            <a:custGeom>
              <a:avLst/>
              <a:gdLst/>
              <a:ahLst/>
              <a:cxnLst/>
              <a:rect r="r" b="b" t="t" l="l"/>
              <a:pathLst>
                <a:path h="495855" w="812800">
                  <a:moveTo>
                    <a:pt x="93252" y="0"/>
                  </a:moveTo>
                  <a:lnTo>
                    <a:pt x="719548" y="0"/>
                  </a:lnTo>
                  <a:cubicBezTo>
                    <a:pt x="771050" y="0"/>
                    <a:pt x="812800" y="41750"/>
                    <a:pt x="812800" y="93252"/>
                  </a:cubicBezTo>
                  <a:lnTo>
                    <a:pt x="812800" y="402604"/>
                  </a:lnTo>
                  <a:cubicBezTo>
                    <a:pt x="812800" y="454105"/>
                    <a:pt x="771050" y="495855"/>
                    <a:pt x="719548" y="495855"/>
                  </a:cubicBezTo>
                  <a:lnTo>
                    <a:pt x="93252" y="495855"/>
                  </a:lnTo>
                  <a:cubicBezTo>
                    <a:pt x="41750" y="495855"/>
                    <a:pt x="0" y="454105"/>
                    <a:pt x="0" y="402604"/>
                  </a:cubicBezTo>
                  <a:lnTo>
                    <a:pt x="0" y="93252"/>
                  </a:lnTo>
                  <a:cubicBezTo>
                    <a:pt x="0" y="41750"/>
                    <a:pt x="41750" y="0"/>
                    <a:pt x="93252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65503" y="6402412"/>
            <a:ext cx="260510" cy="2605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05702" y="7518100"/>
            <a:ext cx="3735980" cy="2279166"/>
            <a:chOff x="0" y="0"/>
            <a:chExt cx="812800" cy="4958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95855"/>
            </a:xfrm>
            <a:custGeom>
              <a:avLst/>
              <a:gdLst/>
              <a:ahLst/>
              <a:cxnLst/>
              <a:rect r="r" b="b" t="t" l="l"/>
              <a:pathLst>
                <a:path h="495855" w="812800">
                  <a:moveTo>
                    <a:pt x="93252" y="0"/>
                  </a:moveTo>
                  <a:lnTo>
                    <a:pt x="719548" y="0"/>
                  </a:lnTo>
                  <a:cubicBezTo>
                    <a:pt x="771050" y="0"/>
                    <a:pt x="812800" y="41750"/>
                    <a:pt x="812800" y="93252"/>
                  </a:cubicBezTo>
                  <a:lnTo>
                    <a:pt x="812800" y="402604"/>
                  </a:lnTo>
                  <a:cubicBezTo>
                    <a:pt x="812800" y="454105"/>
                    <a:pt x="771050" y="495855"/>
                    <a:pt x="719548" y="495855"/>
                  </a:cubicBezTo>
                  <a:lnTo>
                    <a:pt x="93252" y="495855"/>
                  </a:lnTo>
                  <a:cubicBezTo>
                    <a:pt x="41750" y="495855"/>
                    <a:pt x="0" y="454105"/>
                    <a:pt x="0" y="402604"/>
                  </a:cubicBezTo>
                  <a:lnTo>
                    <a:pt x="0" y="93252"/>
                  </a:lnTo>
                  <a:cubicBezTo>
                    <a:pt x="0" y="41750"/>
                    <a:pt x="41750" y="0"/>
                    <a:pt x="93252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65503" y="9290520"/>
            <a:ext cx="260510" cy="2605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743655" y="1564820"/>
            <a:ext cx="8266644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/ </a:t>
            </a:r>
            <a:r>
              <a:rPr lang="en-US" b="true" sz="5000" spc="-50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564820"/>
            <a:ext cx="5593079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2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3560" y="3134987"/>
            <a:ext cx="6880263" cy="117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800" spc="-2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</a:t>
            </a:r>
            <a:r>
              <a:rPr lang="en-US" b="true" sz="2800" spc="-2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uditoría de Empleados y Control de Cuentas</a:t>
            </a: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651265" y="5009933"/>
            <a:ext cx="3244854" cy="33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2542" spc="-25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Alta de Personal: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51265" y="5509888"/>
            <a:ext cx="2753728" cy="10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4"/>
              </a:lnSpc>
            </a:pPr>
            <a:r>
              <a:rPr lang="en-US" sz="1694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</a:t>
            </a:r>
            <a:r>
              <a:rPr lang="en-US" b="true" sz="1694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ación de cuentas para Rescatistas, Veterinarios y Administradores con códigos de acceso únicos.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81520" y="7825616"/>
            <a:ext cx="2753728" cy="66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2542" spc="-25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Seguridad de Cuentas: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1520" y="8497895"/>
            <a:ext cx="2753728" cy="10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4"/>
              </a:lnSpc>
            </a:pPr>
            <a:r>
              <a:rPr lang="en-US" sz="1694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Rest</a:t>
            </a:r>
            <a:r>
              <a:rPr lang="en-US" b="true" sz="1694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ablecimiento de claves, cambio de roles y eliminación definitiva de usuarios no activos.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729355" y="3603150"/>
            <a:ext cx="4211967" cy="7517389"/>
            <a:chOff x="0" y="0"/>
            <a:chExt cx="1109325" cy="19798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9325" cy="1979888"/>
            </a:xfrm>
            <a:custGeom>
              <a:avLst/>
              <a:gdLst/>
              <a:ahLst/>
              <a:cxnLst/>
              <a:rect r="r" b="b" t="t" l="l"/>
              <a:pathLst>
                <a:path h="1979888" w="1109325">
                  <a:moveTo>
                    <a:pt x="82713" y="0"/>
                  </a:moveTo>
                  <a:lnTo>
                    <a:pt x="1026611" y="0"/>
                  </a:lnTo>
                  <a:cubicBezTo>
                    <a:pt x="1072293" y="0"/>
                    <a:pt x="1109325" y="37032"/>
                    <a:pt x="1109325" y="82713"/>
                  </a:cubicBezTo>
                  <a:lnTo>
                    <a:pt x="1109325" y="1897175"/>
                  </a:lnTo>
                  <a:cubicBezTo>
                    <a:pt x="1109325" y="1919112"/>
                    <a:pt x="1100610" y="1940150"/>
                    <a:pt x="1085098" y="1955662"/>
                  </a:cubicBezTo>
                  <a:cubicBezTo>
                    <a:pt x="1069587" y="1971174"/>
                    <a:pt x="1048548" y="1979888"/>
                    <a:pt x="1026611" y="1979888"/>
                  </a:cubicBezTo>
                  <a:lnTo>
                    <a:pt x="82713" y="1979888"/>
                  </a:lnTo>
                  <a:cubicBezTo>
                    <a:pt x="37032" y="1979888"/>
                    <a:pt x="0" y="1942856"/>
                    <a:pt x="0" y="1897175"/>
                  </a:cubicBezTo>
                  <a:lnTo>
                    <a:pt x="0" y="82713"/>
                  </a:lnTo>
                  <a:cubicBezTo>
                    <a:pt x="0" y="60776"/>
                    <a:pt x="8714" y="39738"/>
                    <a:pt x="24226" y="24226"/>
                  </a:cubicBezTo>
                  <a:cubicBezTo>
                    <a:pt x="39738" y="8714"/>
                    <a:pt x="60776" y="0"/>
                    <a:pt x="82713" y="0"/>
                  </a:cubicBezTo>
                  <a:close/>
                </a:path>
              </a:pathLst>
            </a:custGeom>
            <a:solidFill>
              <a:srgbClr val="FFE5D5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09325" cy="2008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29449" y="1688827"/>
            <a:ext cx="4065878" cy="4326015"/>
            <a:chOff x="0" y="0"/>
            <a:chExt cx="414198" cy="4406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198" cy="440699"/>
            </a:xfrm>
            <a:custGeom>
              <a:avLst/>
              <a:gdLst/>
              <a:ahLst/>
              <a:cxnLst/>
              <a:rect r="r" b="b" t="t" l="l"/>
              <a:pathLst>
                <a:path h="440699" w="414198">
                  <a:moveTo>
                    <a:pt x="85685" y="0"/>
                  </a:moveTo>
                  <a:lnTo>
                    <a:pt x="328513" y="0"/>
                  </a:lnTo>
                  <a:cubicBezTo>
                    <a:pt x="351238" y="0"/>
                    <a:pt x="373032" y="9028"/>
                    <a:pt x="389101" y="25097"/>
                  </a:cubicBezTo>
                  <a:cubicBezTo>
                    <a:pt x="405171" y="41166"/>
                    <a:pt x="414198" y="62960"/>
                    <a:pt x="414198" y="85685"/>
                  </a:cubicBezTo>
                  <a:lnTo>
                    <a:pt x="414198" y="355013"/>
                  </a:lnTo>
                  <a:cubicBezTo>
                    <a:pt x="414198" y="377739"/>
                    <a:pt x="405171" y="399533"/>
                    <a:pt x="389101" y="415602"/>
                  </a:cubicBezTo>
                  <a:cubicBezTo>
                    <a:pt x="373032" y="431671"/>
                    <a:pt x="351238" y="440699"/>
                    <a:pt x="328513" y="440699"/>
                  </a:cubicBezTo>
                  <a:lnTo>
                    <a:pt x="85685" y="440699"/>
                  </a:lnTo>
                  <a:cubicBezTo>
                    <a:pt x="62960" y="440699"/>
                    <a:pt x="41166" y="431671"/>
                    <a:pt x="25097" y="415602"/>
                  </a:cubicBezTo>
                  <a:cubicBezTo>
                    <a:pt x="9028" y="399533"/>
                    <a:pt x="0" y="377739"/>
                    <a:pt x="0" y="355013"/>
                  </a:cubicBezTo>
                  <a:lnTo>
                    <a:pt x="0" y="85685"/>
                  </a:lnTo>
                  <a:cubicBezTo>
                    <a:pt x="0" y="62960"/>
                    <a:pt x="9028" y="41166"/>
                    <a:pt x="25097" y="25097"/>
                  </a:cubicBezTo>
                  <a:cubicBezTo>
                    <a:pt x="41166" y="9028"/>
                    <a:pt x="62960" y="0"/>
                    <a:pt x="85685" y="0"/>
                  </a:cubicBezTo>
                  <a:close/>
                </a:path>
              </a:pathLst>
            </a:custGeom>
            <a:blipFill>
              <a:blip r:embed="rId2"/>
              <a:stretch>
                <a:fillRect l="-1825" t="-18529" r="-147290" b="-38205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214497" y="5172591"/>
            <a:ext cx="5277120" cy="4707657"/>
            <a:chOff x="0" y="0"/>
            <a:chExt cx="801510" cy="715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1510" cy="715018"/>
            </a:xfrm>
            <a:custGeom>
              <a:avLst/>
              <a:gdLst/>
              <a:ahLst/>
              <a:cxnLst/>
              <a:rect r="r" b="b" t="t" l="l"/>
              <a:pathLst>
                <a:path h="715018" w="801510">
                  <a:moveTo>
                    <a:pt x="66018" y="0"/>
                  </a:moveTo>
                  <a:lnTo>
                    <a:pt x="735492" y="0"/>
                  </a:lnTo>
                  <a:cubicBezTo>
                    <a:pt x="771953" y="0"/>
                    <a:pt x="801510" y="29557"/>
                    <a:pt x="801510" y="66018"/>
                  </a:cubicBezTo>
                  <a:lnTo>
                    <a:pt x="801510" y="649000"/>
                  </a:lnTo>
                  <a:cubicBezTo>
                    <a:pt x="801510" y="685460"/>
                    <a:pt x="771953" y="715018"/>
                    <a:pt x="735492" y="715018"/>
                  </a:cubicBezTo>
                  <a:lnTo>
                    <a:pt x="66018" y="715018"/>
                  </a:lnTo>
                  <a:cubicBezTo>
                    <a:pt x="29557" y="715018"/>
                    <a:pt x="0" y="685460"/>
                    <a:pt x="0" y="649000"/>
                  </a:cubicBezTo>
                  <a:lnTo>
                    <a:pt x="0" y="66018"/>
                  </a:lnTo>
                  <a:cubicBezTo>
                    <a:pt x="0" y="29557"/>
                    <a:pt x="29557" y="0"/>
                    <a:pt x="66018" y="0"/>
                  </a:cubicBezTo>
                  <a:close/>
                </a:path>
              </a:pathLst>
            </a:custGeom>
            <a:blipFill>
              <a:blip r:embed="rId3"/>
              <a:stretch>
                <a:fillRect l="-14627" t="-23768" r="-39454" b="-45654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6830" y="3603150"/>
            <a:ext cx="9188517" cy="1775175"/>
            <a:chOff x="0" y="0"/>
            <a:chExt cx="1484137" cy="286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4137" cy="286728"/>
            </a:xfrm>
            <a:custGeom>
              <a:avLst/>
              <a:gdLst/>
              <a:ahLst/>
              <a:cxnLst/>
              <a:rect r="r" b="b" t="t" l="l"/>
              <a:pathLst>
                <a:path h="286728" w="1484137">
                  <a:moveTo>
                    <a:pt x="37915" y="0"/>
                  </a:moveTo>
                  <a:lnTo>
                    <a:pt x="1446222" y="0"/>
                  </a:lnTo>
                  <a:cubicBezTo>
                    <a:pt x="1456277" y="0"/>
                    <a:pt x="1465921" y="3995"/>
                    <a:pt x="1473032" y="11105"/>
                  </a:cubicBezTo>
                  <a:cubicBezTo>
                    <a:pt x="1480143" y="18216"/>
                    <a:pt x="1484137" y="27860"/>
                    <a:pt x="1484137" y="37915"/>
                  </a:cubicBezTo>
                  <a:lnTo>
                    <a:pt x="1484137" y="248812"/>
                  </a:lnTo>
                  <a:cubicBezTo>
                    <a:pt x="1484137" y="269752"/>
                    <a:pt x="1467162" y="286728"/>
                    <a:pt x="1446222" y="286728"/>
                  </a:cubicBezTo>
                  <a:lnTo>
                    <a:pt x="37915" y="286728"/>
                  </a:lnTo>
                  <a:cubicBezTo>
                    <a:pt x="16975" y="286728"/>
                    <a:pt x="0" y="269752"/>
                    <a:pt x="0" y="248812"/>
                  </a:cubicBezTo>
                  <a:lnTo>
                    <a:pt x="0" y="37915"/>
                  </a:lnTo>
                  <a:cubicBezTo>
                    <a:pt x="0" y="16975"/>
                    <a:pt x="16975" y="0"/>
                    <a:pt x="37915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84137" cy="31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2953" y="4299140"/>
            <a:ext cx="345844" cy="350893"/>
            <a:chOff x="0" y="0"/>
            <a:chExt cx="801105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1105" cy="812800"/>
            </a:xfrm>
            <a:custGeom>
              <a:avLst/>
              <a:gdLst/>
              <a:ahLst/>
              <a:cxnLst/>
              <a:rect r="r" b="b" t="t" l="l"/>
              <a:pathLst>
                <a:path h="812800" w="801105">
                  <a:moveTo>
                    <a:pt x="400553" y="0"/>
                  </a:moveTo>
                  <a:cubicBezTo>
                    <a:pt x="179334" y="0"/>
                    <a:pt x="0" y="181951"/>
                    <a:pt x="0" y="406400"/>
                  </a:cubicBezTo>
                  <a:cubicBezTo>
                    <a:pt x="0" y="630849"/>
                    <a:pt x="179334" y="812800"/>
                    <a:pt x="400553" y="812800"/>
                  </a:cubicBezTo>
                  <a:cubicBezTo>
                    <a:pt x="621772" y="812800"/>
                    <a:pt x="801105" y="630849"/>
                    <a:pt x="801105" y="406400"/>
                  </a:cubicBezTo>
                  <a:cubicBezTo>
                    <a:pt x="801105" y="181951"/>
                    <a:pt x="621772" y="0"/>
                    <a:pt x="400553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5104" y="47625"/>
              <a:ext cx="650898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6830" y="5906162"/>
            <a:ext cx="9188517" cy="1775175"/>
            <a:chOff x="0" y="0"/>
            <a:chExt cx="1484137" cy="2867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4137" cy="286728"/>
            </a:xfrm>
            <a:custGeom>
              <a:avLst/>
              <a:gdLst/>
              <a:ahLst/>
              <a:cxnLst/>
              <a:rect r="r" b="b" t="t" l="l"/>
              <a:pathLst>
                <a:path h="286728" w="1484137">
                  <a:moveTo>
                    <a:pt x="37915" y="0"/>
                  </a:moveTo>
                  <a:lnTo>
                    <a:pt x="1446222" y="0"/>
                  </a:lnTo>
                  <a:cubicBezTo>
                    <a:pt x="1456277" y="0"/>
                    <a:pt x="1465921" y="3995"/>
                    <a:pt x="1473032" y="11105"/>
                  </a:cubicBezTo>
                  <a:cubicBezTo>
                    <a:pt x="1480143" y="18216"/>
                    <a:pt x="1484137" y="27860"/>
                    <a:pt x="1484137" y="37915"/>
                  </a:cubicBezTo>
                  <a:lnTo>
                    <a:pt x="1484137" y="248812"/>
                  </a:lnTo>
                  <a:cubicBezTo>
                    <a:pt x="1484137" y="269752"/>
                    <a:pt x="1467162" y="286728"/>
                    <a:pt x="1446222" y="286728"/>
                  </a:cubicBezTo>
                  <a:lnTo>
                    <a:pt x="37915" y="286728"/>
                  </a:lnTo>
                  <a:cubicBezTo>
                    <a:pt x="16975" y="286728"/>
                    <a:pt x="0" y="269752"/>
                    <a:pt x="0" y="248812"/>
                  </a:cubicBezTo>
                  <a:lnTo>
                    <a:pt x="0" y="37915"/>
                  </a:lnTo>
                  <a:cubicBezTo>
                    <a:pt x="0" y="16975"/>
                    <a:pt x="16975" y="0"/>
                    <a:pt x="37915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84137" cy="315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72953" y="6602153"/>
            <a:ext cx="345844" cy="350893"/>
            <a:chOff x="0" y="0"/>
            <a:chExt cx="801105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1105" cy="812800"/>
            </a:xfrm>
            <a:custGeom>
              <a:avLst/>
              <a:gdLst/>
              <a:ahLst/>
              <a:cxnLst/>
              <a:rect r="r" b="b" t="t" l="l"/>
              <a:pathLst>
                <a:path h="812800" w="801105">
                  <a:moveTo>
                    <a:pt x="400553" y="0"/>
                  </a:moveTo>
                  <a:cubicBezTo>
                    <a:pt x="179334" y="0"/>
                    <a:pt x="0" y="181951"/>
                    <a:pt x="0" y="406400"/>
                  </a:cubicBezTo>
                  <a:cubicBezTo>
                    <a:pt x="0" y="630849"/>
                    <a:pt x="179334" y="812800"/>
                    <a:pt x="400553" y="812800"/>
                  </a:cubicBezTo>
                  <a:cubicBezTo>
                    <a:pt x="621772" y="812800"/>
                    <a:pt x="801105" y="630849"/>
                    <a:pt x="801105" y="406400"/>
                  </a:cubicBezTo>
                  <a:cubicBezTo>
                    <a:pt x="801105" y="181951"/>
                    <a:pt x="621772" y="0"/>
                    <a:pt x="400553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5104" y="47625"/>
              <a:ext cx="650898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39306" y="4156999"/>
            <a:ext cx="2649146" cy="78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3"/>
              </a:lnSpc>
              <a:spcBef>
                <a:spcPct val="0"/>
              </a:spcBef>
            </a:pPr>
            <a:r>
              <a:rPr lang="en-US" b="true" sz="3013" spc="-30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Indicado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res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Vent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</a:t>
            </a:r>
            <a:r>
              <a:rPr lang="en-US" b="true" sz="3013" spc="-30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07638" y="3926397"/>
            <a:ext cx="4278947" cy="113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882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Métric</a:t>
            </a:r>
            <a:r>
              <a:rPr lang="en-US" sz="1882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 en tiempo real de ingresos confirmados, pedidos pendientes, stock bajo e inventarios. </a:t>
            </a:r>
          </a:p>
          <a:p>
            <a:pPr algn="l">
              <a:lnSpc>
                <a:spcPts val="207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239306" y="6512782"/>
            <a:ext cx="2649146" cy="66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3"/>
              </a:lnSpc>
              <a:spcBef>
                <a:spcPct val="0"/>
              </a:spcBef>
            </a:pPr>
            <a:r>
              <a:rPr lang="en-US" b="true" sz="2613" spc="-26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</a:t>
            </a:r>
            <a:r>
              <a:rPr lang="en-US" b="true" sz="2613" spc="-26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ecoración</a:t>
            </a:r>
            <a:r>
              <a:rPr lang="en-US" b="true" sz="2613" spc="-26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b="true" sz="2613" spc="-26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y</a:t>
            </a:r>
            <a:r>
              <a:rPr lang="en-US" b="true" sz="2613" spc="-26" strike="noStrike" u="non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Temas CMS: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07638" y="6219123"/>
            <a:ext cx="4278947" cy="121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1"/>
              </a:lnSpc>
            </a:pPr>
            <a:r>
              <a:rPr lang="en-US" sz="1982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</a:t>
            </a:r>
            <a:r>
              <a:rPr lang="en-US" sz="1982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ersonalización del nombre del refugio, eslogan, logotipo, banner temático y colores de cabecera.</a:t>
            </a:r>
          </a:p>
          <a:p>
            <a:pPr algn="l">
              <a:lnSpc>
                <a:spcPts val="218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743655" y="1564820"/>
            <a:ext cx="8266644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/ </a:t>
            </a:r>
            <a:r>
              <a:rPr lang="en-US" b="true" sz="5000" spc="-50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Administrador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1564820"/>
            <a:ext cx="5593079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2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723130" y="3018743"/>
            <a:ext cx="4273917" cy="3767878"/>
            <a:chOff x="0" y="0"/>
            <a:chExt cx="757547" cy="667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7547" cy="667852"/>
            </a:xfrm>
            <a:custGeom>
              <a:avLst/>
              <a:gdLst/>
              <a:ahLst/>
              <a:cxnLst/>
              <a:rect r="r" b="b" t="t" l="l"/>
              <a:pathLst>
                <a:path h="667852" w="757547">
                  <a:moveTo>
                    <a:pt x="81515" y="0"/>
                  </a:moveTo>
                  <a:lnTo>
                    <a:pt x="676032" y="0"/>
                  </a:lnTo>
                  <a:cubicBezTo>
                    <a:pt x="721051" y="0"/>
                    <a:pt x="757547" y="36495"/>
                    <a:pt x="757547" y="81515"/>
                  </a:cubicBezTo>
                  <a:lnTo>
                    <a:pt x="757547" y="586337"/>
                  </a:lnTo>
                  <a:cubicBezTo>
                    <a:pt x="757547" y="607956"/>
                    <a:pt x="748958" y="628690"/>
                    <a:pt x="733671" y="643977"/>
                  </a:cubicBezTo>
                  <a:cubicBezTo>
                    <a:pt x="718385" y="659264"/>
                    <a:pt x="697651" y="667852"/>
                    <a:pt x="676032" y="667852"/>
                  </a:cubicBezTo>
                  <a:lnTo>
                    <a:pt x="81515" y="667852"/>
                  </a:lnTo>
                  <a:cubicBezTo>
                    <a:pt x="59896" y="667852"/>
                    <a:pt x="39162" y="659264"/>
                    <a:pt x="23875" y="643977"/>
                  </a:cubicBezTo>
                  <a:cubicBezTo>
                    <a:pt x="8588" y="628690"/>
                    <a:pt x="0" y="607956"/>
                    <a:pt x="0" y="586337"/>
                  </a:cubicBezTo>
                  <a:lnTo>
                    <a:pt x="0" y="81515"/>
                  </a:lnTo>
                  <a:cubicBezTo>
                    <a:pt x="0" y="59896"/>
                    <a:pt x="8588" y="39162"/>
                    <a:pt x="23875" y="23875"/>
                  </a:cubicBezTo>
                  <a:cubicBezTo>
                    <a:pt x="39162" y="8588"/>
                    <a:pt x="59896" y="0"/>
                    <a:pt x="81515" y="0"/>
                  </a:cubicBezTo>
                  <a:close/>
                </a:path>
              </a:pathLst>
            </a:custGeom>
            <a:blipFill>
              <a:blip r:embed="rId2"/>
              <a:stretch>
                <a:fillRect l="-11944" t="-15947" r="-197167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710635" y="6167233"/>
            <a:ext cx="3643776" cy="2697720"/>
            <a:chOff x="0" y="0"/>
            <a:chExt cx="957060" cy="7085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7060" cy="708573"/>
            </a:xfrm>
            <a:custGeom>
              <a:avLst/>
              <a:gdLst/>
              <a:ahLst/>
              <a:cxnLst/>
              <a:rect r="r" b="b" t="t" l="l"/>
              <a:pathLst>
                <a:path h="708573" w="957060">
                  <a:moveTo>
                    <a:pt x="95611" y="0"/>
                  </a:moveTo>
                  <a:lnTo>
                    <a:pt x="861449" y="0"/>
                  </a:lnTo>
                  <a:cubicBezTo>
                    <a:pt x="886806" y="0"/>
                    <a:pt x="911125" y="10073"/>
                    <a:pt x="929056" y="28004"/>
                  </a:cubicBezTo>
                  <a:cubicBezTo>
                    <a:pt x="946987" y="45935"/>
                    <a:pt x="957060" y="70254"/>
                    <a:pt x="957060" y="95611"/>
                  </a:cubicBezTo>
                  <a:lnTo>
                    <a:pt x="957060" y="612961"/>
                  </a:lnTo>
                  <a:cubicBezTo>
                    <a:pt x="957060" y="638319"/>
                    <a:pt x="946987" y="662638"/>
                    <a:pt x="929056" y="680569"/>
                  </a:cubicBezTo>
                  <a:cubicBezTo>
                    <a:pt x="911125" y="698499"/>
                    <a:pt x="886806" y="708573"/>
                    <a:pt x="861449" y="708573"/>
                  </a:cubicBezTo>
                  <a:lnTo>
                    <a:pt x="95611" y="708573"/>
                  </a:lnTo>
                  <a:cubicBezTo>
                    <a:pt x="70254" y="708573"/>
                    <a:pt x="45935" y="698499"/>
                    <a:pt x="28004" y="680569"/>
                  </a:cubicBezTo>
                  <a:cubicBezTo>
                    <a:pt x="10073" y="662638"/>
                    <a:pt x="0" y="638319"/>
                    <a:pt x="0" y="612961"/>
                  </a:cubicBezTo>
                  <a:lnTo>
                    <a:pt x="0" y="95611"/>
                  </a:lnTo>
                  <a:cubicBezTo>
                    <a:pt x="0" y="70254"/>
                    <a:pt x="10073" y="45935"/>
                    <a:pt x="28004" y="28004"/>
                  </a:cubicBezTo>
                  <a:cubicBezTo>
                    <a:pt x="45935" y="10073"/>
                    <a:pt x="70254" y="0"/>
                    <a:pt x="95611" y="0"/>
                  </a:cubicBezTo>
                  <a:close/>
                </a:path>
              </a:pathLst>
            </a:custGeom>
            <a:blipFill>
              <a:blip r:embed="rId2"/>
              <a:stretch>
                <a:fillRect l="-120937" t="-48972" r="-112592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5025124"/>
            <a:ext cx="5360812" cy="1882701"/>
            <a:chOff x="0" y="0"/>
            <a:chExt cx="1411901" cy="4958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375599"/>
            <a:ext cx="5360812" cy="1882701"/>
            <a:chOff x="0" y="0"/>
            <a:chExt cx="1411901" cy="4958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1168" y="5025124"/>
            <a:ext cx="5360812" cy="1882701"/>
            <a:chOff x="0" y="0"/>
            <a:chExt cx="1411901" cy="4958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1168" y="7375599"/>
            <a:ext cx="5360812" cy="1882701"/>
            <a:chOff x="0" y="0"/>
            <a:chExt cx="1411901" cy="4958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888569" y="6406881"/>
            <a:ext cx="215194" cy="215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88569" y="8757356"/>
            <a:ext cx="215194" cy="21519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41036" y="6406881"/>
            <a:ext cx="215194" cy="2151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41036" y="8757356"/>
            <a:ext cx="215194" cy="2151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2243431"/>
            <a:ext cx="9150016" cy="107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3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236872"/>
            <a:ext cx="9255614" cy="72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5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Rescatista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4394" y="5406160"/>
            <a:ext cx="4669369" cy="81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 spc="-21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Recepción de Alertas y Operaciones de Campo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7186861" y="5262536"/>
            <a:ext cx="4669369" cy="84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Alertas Ciudadanas Pendientes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34394" y="6094756"/>
            <a:ext cx="4169314" cy="41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Mód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ulo 03 — Rescatista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34394" y="8326475"/>
            <a:ext cx="416931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Enlace telefónic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 instantáneo con el denunciante para afinar puntos de encuentro y referencias.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7186861" y="5902562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andeja de recepción inmediata de avisos emitidos por los ciudadanos con fotos y mapas.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7186861" y="8445231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Clas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ificación de rescates según la gravedad médica reportada del animal.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7126889" y="7746852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Priorización Operativa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434394" y="7865609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Coordinación Directa</a:t>
            </a:r>
          </a:p>
          <a:p>
            <a:pPr algn="l">
              <a:lnSpc>
                <a:spcPts val="2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014806" y="4553814"/>
            <a:ext cx="9112363" cy="6802458"/>
            <a:chOff x="0" y="0"/>
            <a:chExt cx="2399964" cy="17915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99964" cy="1791594"/>
            </a:xfrm>
            <a:custGeom>
              <a:avLst/>
              <a:gdLst/>
              <a:ahLst/>
              <a:cxnLst/>
              <a:rect r="r" b="b" t="t" l="l"/>
              <a:pathLst>
                <a:path h="1791594" w="2399964">
                  <a:moveTo>
                    <a:pt x="38232" y="0"/>
                  </a:moveTo>
                  <a:lnTo>
                    <a:pt x="2361732" y="0"/>
                  </a:lnTo>
                  <a:cubicBezTo>
                    <a:pt x="2371872" y="0"/>
                    <a:pt x="2381596" y="4028"/>
                    <a:pt x="2388766" y="11198"/>
                  </a:cubicBezTo>
                  <a:cubicBezTo>
                    <a:pt x="2395936" y="18368"/>
                    <a:pt x="2399964" y="28092"/>
                    <a:pt x="2399964" y="38232"/>
                  </a:cubicBezTo>
                  <a:lnTo>
                    <a:pt x="2399964" y="1753362"/>
                  </a:lnTo>
                  <a:cubicBezTo>
                    <a:pt x="2399964" y="1774477"/>
                    <a:pt x="2382847" y="1791594"/>
                    <a:pt x="2361732" y="1791594"/>
                  </a:cubicBezTo>
                  <a:lnTo>
                    <a:pt x="38232" y="1791594"/>
                  </a:lnTo>
                  <a:cubicBezTo>
                    <a:pt x="28092" y="1791594"/>
                    <a:pt x="18368" y="1787566"/>
                    <a:pt x="11198" y="1780396"/>
                  </a:cubicBezTo>
                  <a:cubicBezTo>
                    <a:pt x="4028" y="1773226"/>
                    <a:pt x="0" y="1763501"/>
                    <a:pt x="0" y="1753362"/>
                  </a:cubicBezTo>
                  <a:lnTo>
                    <a:pt x="0" y="38232"/>
                  </a:lnTo>
                  <a:cubicBezTo>
                    <a:pt x="0" y="28092"/>
                    <a:pt x="4028" y="18368"/>
                    <a:pt x="11198" y="11198"/>
                  </a:cubicBezTo>
                  <a:cubicBezTo>
                    <a:pt x="18368" y="4028"/>
                    <a:pt x="28092" y="0"/>
                    <a:pt x="38232" y="0"/>
                  </a:cubicBezTo>
                  <a:close/>
                </a:path>
              </a:pathLst>
            </a:custGeom>
            <a:solidFill>
              <a:srgbClr val="FFE5D5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99964" cy="1820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6887" y="2761968"/>
            <a:ext cx="5176821" cy="4253629"/>
            <a:chOff x="0" y="0"/>
            <a:chExt cx="812800" cy="667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67852"/>
            </a:xfrm>
            <a:custGeom>
              <a:avLst/>
              <a:gdLst/>
              <a:ahLst/>
              <a:cxnLst/>
              <a:rect r="r" b="b" t="t" l="l"/>
              <a:pathLst>
                <a:path h="667852" w="812800">
                  <a:moveTo>
                    <a:pt x="67297" y="0"/>
                  </a:moveTo>
                  <a:lnTo>
                    <a:pt x="745503" y="0"/>
                  </a:lnTo>
                  <a:cubicBezTo>
                    <a:pt x="782670" y="0"/>
                    <a:pt x="812800" y="30130"/>
                    <a:pt x="812800" y="67297"/>
                  </a:cubicBezTo>
                  <a:lnTo>
                    <a:pt x="812800" y="600555"/>
                  </a:lnTo>
                  <a:cubicBezTo>
                    <a:pt x="812800" y="637722"/>
                    <a:pt x="782670" y="667852"/>
                    <a:pt x="745503" y="667852"/>
                  </a:cubicBezTo>
                  <a:lnTo>
                    <a:pt x="67297" y="667852"/>
                  </a:lnTo>
                  <a:cubicBezTo>
                    <a:pt x="30130" y="667852"/>
                    <a:pt x="0" y="637722"/>
                    <a:pt x="0" y="600555"/>
                  </a:cubicBezTo>
                  <a:lnTo>
                    <a:pt x="0" y="67297"/>
                  </a:lnTo>
                  <a:cubicBezTo>
                    <a:pt x="0" y="30130"/>
                    <a:pt x="30130" y="0"/>
                    <a:pt x="67297" y="0"/>
                  </a:cubicBezTo>
                  <a:close/>
                </a:path>
              </a:pathLst>
            </a:custGeom>
            <a:blipFill>
              <a:blip r:embed="rId2"/>
              <a:stretch>
                <a:fillRect l="-37716" t="-23281" r="-38967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4520081" y="5818506"/>
            <a:ext cx="5313479" cy="4175227"/>
            <a:chOff x="0" y="0"/>
            <a:chExt cx="901744" cy="7085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1744" cy="708573"/>
            </a:xfrm>
            <a:custGeom>
              <a:avLst/>
              <a:gdLst/>
              <a:ahLst/>
              <a:cxnLst/>
              <a:rect r="r" b="b" t="t" l="l"/>
              <a:pathLst>
                <a:path h="708573" w="901744">
                  <a:moveTo>
                    <a:pt x="65567" y="0"/>
                  </a:moveTo>
                  <a:lnTo>
                    <a:pt x="836177" y="0"/>
                  </a:lnTo>
                  <a:cubicBezTo>
                    <a:pt x="853567" y="0"/>
                    <a:pt x="870244" y="6908"/>
                    <a:pt x="882540" y="19204"/>
                  </a:cubicBezTo>
                  <a:cubicBezTo>
                    <a:pt x="894836" y="31500"/>
                    <a:pt x="901744" y="48177"/>
                    <a:pt x="901744" y="65567"/>
                  </a:cubicBezTo>
                  <a:lnTo>
                    <a:pt x="901744" y="643006"/>
                  </a:lnTo>
                  <a:cubicBezTo>
                    <a:pt x="901744" y="679218"/>
                    <a:pt x="872389" y="708573"/>
                    <a:pt x="836177" y="708573"/>
                  </a:cubicBezTo>
                  <a:lnTo>
                    <a:pt x="65567" y="708573"/>
                  </a:lnTo>
                  <a:cubicBezTo>
                    <a:pt x="29355" y="708573"/>
                    <a:pt x="0" y="679218"/>
                    <a:pt x="0" y="643006"/>
                  </a:cubicBezTo>
                  <a:lnTo>
                    <a:pt x="0" y="65567"/>
                  </a:lnTo>
                  <a:cubicBezTo>
                    <a:pt x="0" y="29355"/>
                    <a:pt x="29355" y="0"/>
                    <a:pt x="65567" y="0"/>
                  </a:cubicBezTo>
                  <a:close/>
                </a:path>
              </a:pathLst>
            </a:custGeom>
            <a:blipFill>
              <a:blip r:embed="rId3"/>
              <a:stretch>
                <a:fillRect l="-67787" t="0" r="-115838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AutoShape 10" id="10"/>
          <p:cNvSpPr/>
          <p:nvPr/>
        </p:nvSpPr>
        <p:spPr>
          <a:xfrm>
            <a:off x="9298412" y="4304978"/>
            <a:ext cx="7960888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1405702" y="4650863"/>
            <a:ext cx="3735980" cy="2279166"/>
            <a:chOff x="0" y="0"/>
            <a:chExt cx="812800" cy="4958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95855"/>
            </a:xfrm>
            <a:custGeom>
              <a:avLst/>
              <a:gdLst/>
              <a:ahLst/>
              <a:cxnLst/>
              <a:rect r="r" b="b" t="t" l="l"/>
              <a:pathLst>
                <a:path h="495855" w="812800">
                  <a:moveTo>
                    <a:pt x="93252" y="0"/>
                  </a:moveTo>
                  <a:lnTo>
                    <a:pt x="719548" y="0"/>
                  </a:lnTo>
                  <a:cubicBezTo>
                    <a:pt x="771050" y="0"/>
                    <a:pt x="812800" y="41750"/>
                    <a:pt x="812800" y="93252"/>
                  </a:cubicBezTo>
                  <a:lnTo>
                    <a:pt x="812800" y="402604"/>
                  </a:lnTo>
                  <a:cubicBezTo>
                    <a:pt x="812800" y="454105"/>
                    <a:pt x="771050" y="495855"/>
                    <a:pt x="719548" y="495855"/>
                  </a:cubicBezTo>
                  <a:lnTo>
                    <a:pt x="93252" y="495855"/>
                  </a:lnTo>
                  <a:cubicBezTo>
                    <a:pt x="41750" y="495855"/>
                    <a:pt x="0" y="454105"/>
                    <a:pt x="0" y="402604"/>
                  </a:cubicBezTo>
                  <a:lnTo>
                    <a:pt x="0" y="93252"/>
                  </a:lnTo>
                  <a:cubicBezTo>
                    <a:pt x="0" y="41750"/>
                    <a:pt x="41750" y="0"/>
                    <a:pt x="93252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12800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65503" y="6402412"/>
            <a:ext cx="260510" cy="2605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05702" y="7518100"/>
            <a:ext cx="3735980" cy="2279166"/>
            <a:chOff x="0" y="0"/>
            <a:chExt cx="812800" cy="4958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95855"/>
            </a:xfrm>
            <a:custGeom>
              <a:avLst/>
              <a:gdLst/>
              <a:ahLst/>
              <a:cxnLst/>
              <a:rect r="r" b="b" t="t" l="l"/>
              <a:pathLst>
                <a:path h="495855" w="812800">
                  <a:moveTo>
                    <a:pt x="93252" y="0"/>
                  </a:moveTo>
                  <a:lnTo>
                    <a:pt x="719548" y="0"/>
                  </a:lnTo>
                  <a:cubicBezTo>
                    <a:pt x="771050" y="0"/>
                    <a:pt x="812800" y="41750"/>
                    <a:pt x="812800" y="93252"/>
                  </a:cubicBezTo>
                  <a:lnTo>
                    <a:pt x="812800" y="402604"/>
                  </a:lnTo>
                  <a:cubicBezTo>
                    <a:pt x="812800" y="454105"/>
                    <a:pt x="771050" y="495855"/>
                    <a:pt x="719548" y="495855"/>
                  </a:cubicBezTo>
                  <a:lnTo>
                    <a:pt x="93252" y="495855"/>
                  </a:lnTo>
                  <a:cubicBezTo>
                    <a:pt x="41750" y="495855"/>
                    <a:pt x="0" y="454105"/>
                    <a:pt x="0" y="402604"/>
                  </a:cubicBezTo>
                  <a:lnTo>
                    <a:pt x="0" y="93252"/>
                  </a:lnTo>
                  <a:cubicBezTo>
                    <a:pt x="0" y="41750"/>
                    <a:pt x="41750" y="0"/>
                    <a:pt x="93252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65503" y="9290520"/>
            <a:ext cx="260510" cy="26051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743655" y="1564820"/>
            <a:ext cx="8266644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/ Rescatista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564820"/>
            <a:ext cx="5593079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3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33560" y="3134987"/>
            <a:ext cx="6880263" cy="117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800" spc="-2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Reg</a:t>
            </a:r>
            <a:r>
              <a:rPr lang="en-US" b="true" sz="2800" spc="-28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istro Oficial de Ficha de Rescate</a:t>
            </a:r>
          </a:p>
          <a:p>
            <a:pPr algn="ctr">
              <a:lnSpc>
                <a:spcPts val="308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651265" y="4882408"/>
            <a:ext cx="3244854" cy="66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2542" spc="-25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Captura de Datos de Campo: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68307" y="5664002"/>
            <a:ext cx="2883983" cy="86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Ingreso de direc</a:t>
            </a:r>
            <a:r>
              <a:rPr lang="en-US" b="true" sz="1400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ción exacta, especie (perro/gato), sexo, nivel de gravedad y características particulares.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81520" y="7825616"/>
            <a:ext cx="2753728" cy="66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2"/>
              </a:lnSpc>
            </a:pPr>
            <a:r>
              <a:rPr lang="en-US" sz="2542" spc="-25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Historial de Mis Rescates: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81520" y="8497895"/>
            <a:ext cx="2670771" cy="127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8"/>
              </a:lnSpc>
            </a:pPr>
            <a:r>
              <a:rPr lang="en-US" sz="1643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Mant</a:t>
            </a:r>
            <a:r>
              <a:rPr lang="en-US" b="true" sz="1643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enimiento del registro personal de animales rescatados e ingresados formalmente al refugio.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356175" y="1875996"/>
            <a:ext cx="4511062" cy="3267504"/>
            <a:chOff x="0" y="0"/>
            <a:chExt cx="922025" cy="667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2025" cy="667852"/>
            </a:xfrm>
            <a:custGeom>
              <a:avLst/>
              <a:gdLst/>
              <a:ahLst/>
              <a:cxnLst/>
              <a:rect r="r" b="b" t="t" l="l"/>
              <a:pathLst>
                <a:path h="667852" w="922025">
                  <a:moveTo>
                    <a:pt x="77229" y="0"/>
                  </a:moveTo>
                  <a:lnTo>
                    <a:pt x="844796" y="0"/>
                  </a:lnTo>
                  <a:cubicBezTo>
                    <a:pt x="865278" y="0"/>
                    <a:pt x="884922" y="8137"/>
                    <a:pt x="899405" y="22620"/>
                  </a:cubicBezTo>
                  <a:cubicBezTo>
                    <a:pt x="913889" y="37103"/>
                    <a:pt x="922025" y="56747"/>
                    <a:pt x="922025" y="77229"/>
                  </a:cubicBezTo>
                  <a:lnTo>
                    <a:pt x="922025" y="590623"/>
                  </a:lnTo>
                  <a:cubicBezTo>
                    <a:pt x="922025" y="611105"/>
                    <a:pt x="913889" y="630749"/>
                    <a:pt x="899405" y="645232"/>
                  </a:cubicBezTo>
                  <a:cubicBezTo>
                    <a:pt x="884922" y="659715"/>
                    <a:pt x="865278" y="667852"/>
                    <a:pt x="844796" y="667852"/>
                  </a:cubicBezTo>
                  <a:lnTo>
                    <a:pt x="77229" y="667852"/>
                  </a:lnTo>
                  <a:cubicBezTo>
                    <a:pt x="56747" y="667852"/>
                    <a:pt x="37103" y="659715"/>
                    <a:pt x="22620" y="645232"/>
                  </a:cubicBezTo>
                  <a:cubicBezTo>
                    <a:pt x="8137" y="630749"/>
                    <a:pt x="0" y="611105"/>
                    <a:pt x="0" y="590623"/>
                  </a:cubicBezTo>
                  <a:lnTo>
                    <a:pt x="0" y="77229"/>
                  </a:lnTo>
                  <a:cubicBezTo>
                    <a:pt x="0" y="56747"/>
                    <a:pt x="8137" y="37103"/>
                    <a:pt x="22620" y="22620"/>
                  </a:cubicBezTo>
                  <a:cubicBezTo>
                    <a:pt x="37103" y="8137"/>
                    <a:pt x="56747" y="0"/>
                    <a:pt x="77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7526" b="-2709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069919" y="3627574"/>
            <a:ext cx="3976671" cy="3466732"/>
            <a:chOff x="0" y="0"/>
            <a:chExt cx="812800" cy="7085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08573"/>
            </a:xfrm>
            <a:custGeom>
              <a:avLst/>
              <a:gdLst/>
              <a:ahLst/>
              <a:cxnLst/>
              <a:rect r="r" b="b" t="t" l="l"/>
              <a:pathLst>
                <a:path h="708573" w="812800">
                  <a:moveTo>
                    <a:pt x="87608" y="0"/>
                  </a:moveTo>
                  <a:lnTo>
                    <a:pt x="725192" y="0"/>
                  </a:lnTo>
                  <a:cubicBezTo>
                    <a:pt x="773577" y="0"/>
                    <a:pt x="812800" y="39223"/>
                    <a:pt x="812800" y="87608"/>
                  </a:cubicBezTo>
                  <a:lnTo>
                    <a:pt x="812800" y="620965"/>
                  </a:lnTo>
                  <a:cubicBezTo>
                    <a:pt x="812800" y="644200"/>
                    <a:pt x="803570" y="666483"/>
                    <a:pt x="787140" y="682913"/>
                  </a:cubicBezTo>
                  <a:cubicBezTo>
                    <a:pt x="770711" y="699343"/>
                    <a:pt x="748427" y="708573"/>
                    <a:pt x="725192" y="708573"/>
                  </a:cubicBezTo>
                  <a:lnTo>
                    <a:pt x="87608" y="708573"/>
                  </a:lnTo>
                  <a:cubicBezTo>
                    <a:pt x="39223" y="708573"/>
                    <a:pt x="0" y="669349"/>
                    <a:pt x="0" y="620965"/>
                  </a:cubicBezTo>
                  <a:lnTo>
                    <a:pt x="0" y="87608"/>
                  </a:lnTo>
                  <a:cubicBezTo>
                    <a:pt x="0" y="39223"/>
                    <a:pt x="39223" y="0"/>
                    <a:pt x="87608" y="0"/>
                  </a:cubicBezTo>
                  <a:close/>
                </a:path>
              </a:pathLst>
            </a:custGeom>
            <a:blipFill>
              <a:blip r:embed="rId3"/>
              <a:stretch>
                <a:fillRect l="-7838" t="-30736" r="-99068" b="-79329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36438" y="6702340"/>
            <a:ext cx="5060297" cy="3466732"/>
            <a:chOff x="0" y="0"/>
            <a:chExt cx="1034285" cy="7085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4285" cy="708573"/>
            </a:xfrm>
            <a:custGeom>
              <a:avLst/>
              <a:gdLst/>
              <a:ahLst/>
              <a:cxnLst/>
              <a:rect r="r" b="b" t="t" l="l"/>
              <a:pathLst>
                <a:path h="708573" w="1034285">
                  <a:moveTo>
                    <a:pt x="68847" y="0"/>
                  </a:moveTo>
                  <a:lnTo>
                    <a:pt x="965438" y="0"/>
                  </a:lnTo>
                  <a:cubicBezTo>
                    <a:pt x="1003461" y="0"/>
                    <a:pt x="1034285" y="30824"/>
                    <a:pt x="1034285" y="68847"/>
                  </a:cubicBezTo>
                  <a:lnTo>
                    <a:pt x="1034285" y="639726"/>
                  </a:lnTo>
                  <a:cubicBezTo>
                    <a:pt x="1034285" y="657985"/>
                    <a:pt x="1027031" y="675497"/>
                    <a:pt x="1014120" y="688408"/>
                  </a:cubicBezTo>
                  <a:cubicBezTo>
                    <a:pt x="1001208" y="701319"/>
                    <a:pt x="983697" y="708573"/>
                    <a:pt x="965438" y="708573"/>
                  </a:cubicBezTo>
                  <a:lnTo>
                    <a:pt x="68847" y="708573"/>
                  </a:lnTo>
                  <a:cubicBezTo>
                    <a:pt x="30824" y="708573"/>
                    <a:pt x="0" y="677749"/>
                    <a:pt x="0" y="639726"/>
                  </a:cubicBezTo>
                  <a:lnTo>
                    <a:pt x="0" y="68847"/>
                  </a:lnTo>
                  <a:cubicBezTo>
                    <a:pt x="0" y="50588"/>
                    <a:pt x="7254" y="33076"/>
                    <a:pt x="20165" y="20165"/>
                  </a:cubicBezTo>
                  <a:cubicBezTo>
                    <a:pt x="33076" y="7254"/>
                    <a:pt x="50588" y="0"/>
                    <a:pt x="68847" y="0"/>
                  </a:cubicBezTo>
                  <a:close/>
                </a:path>
              </a:pathLst>
            </a:custGeom>
            <a:blipFill>
              <a:blip r:embed="rId4"/>
              <a:stretch>
                <a:fillRect l="-32599" t="0" r="0" b="-2711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5025124"/>
            <a:ext cx="5360812" cy="1882701"/>
            <a:chOff x="0" y="0"/>
            <a:chExt cx="1411901" cy="495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7375599"/>
            <a:ext cx="5360812" cy="1882701"/>
            <a:chOff x="0" y="0"/>
            <a:chExt cx="1411901" cy="4958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1168" y="5025124"/>
            <a:ext cx="5360812" cy="1882701"/>
            <a:chOff x="0" y="0"/>
            <a:chExt cx="1411901" cy="4958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FFFEFE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1168" y="7375599"/>
            <a:ext cx="5360812" cy="1882701"/>
            <a:chOff x="0" y="0"/>
            <a:chExt cx="1411901" cy="4958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1901" cy="495855"/>
            </a:xfrm>
            <a:custGeom>
              <a:avLst/>
              <a:gdLst/>
              <a:ahLst/>
              <a:cxnLst/>
              <a:rect r="r" b="b" t="t" l="l"/>
              <a:pathLst>
                <a:path h="495855" w="1411901">
                  <a:moveTo>
                    <a:pt x="64988" y="0"/>
                  </a:moveTo>
                  <a:lnTo>
                    <a:pt x="1346914" y="0"/>
                  </a:lnTo>
                  <a:cubicBezTo>
                    <a:pt x="1382805" y="0"/>
                    <a:pt x="1411901" y="29096"/>
                    <a:pt x="1411901" y="64988"/>
                  </a:cubicBezTo>
                  <a:lnTo>
                    <a:pt x="1411901" y="430868"/>
                  </a:lnTo>
                  <a:cubicBezTo>
                    <a:pt x="1411901" y="448104"/>
                    <a:pt x="1405054" y="464633"/>
                    <a:pt x="1392867" y="476821"/>
                  </a:cubicBezTo>
                  <a:cubicBezTo>
                    <a:pt x="1380679" y="489008"/>
                    <a:pt x="1364149" y="495855"/>
                    <a:pt x="1346914" y="495855"/>
                  </a:cubicBezTo>
                  <a:lnTo>
                    <a:pt x="64988" y="495855"/>
                  </a:lnTo>
                  <a:cubicBezTo>
                    <a:pt x="47752" y="495855"/>
                    <a:pt x="31222" y="489008"/>
                    <a:pt x="19034" y="476821"/>
                  </a:cubicBezTo>
                  <a:cubicBezTo>
                    <a:pt x="6847" y="464633"/>
                    <a:pt x="0" y="448104"/>
                    <a:pt x="0" y="430868"/>
                  </a:cubicBezTo>
                  <a:lnTo>
                    <a:pt x="0" y="64988"/>
                  </a:lnTo>
                  <a:cubicBezTo>
                    <a:pt x="0" y="47752"/>
                    <a:pt x="6847" y="31222"/>
                    <a:pt x="19034" y="19034"/>
                  </a:cubicBezTo>
                  <a:cubicBezTo>
                    <a:pt x="31222" y="6847"/>
                    <a:pt x="47752" y="0"/>
                    <a:pt x="64988" y="0"/>
                  </a:cubicBezTo>
                  <a:close/>
                </a:path>
              </a:pathLst>
            </a:custGeom>
            <a:solidFill>
              <a:srgbClr val="EDEDED"/>
            </a:solidFill>
            <a:ln w="9525" cap="rnd">
              <a:solidFill>
                <a:srgbClr val="EE6703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11901" cy="52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88569" y="6406881"/>
            <a:ext cx="215194" cy="21519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88569" y="8757356"/>
            <a:ext cx="215194" cy="21519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41036" y="6406881"/>
            <a:ext cx="215194" cy="21519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41036" y="8757356"/>
            <a:ext cx="215194" cy="21519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670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2243431"/>
            <a:ext cx="9150016" cy="107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80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Modulo 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3236872"/>
            <a:ext cx="9255614" cy="72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5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Veterinario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4394" y="5406160"/>
            <a:ext cx="4669369" cy="81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 spc="-21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Atención Médica y Registro Clínico Digital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186861" y="5406160"/>
            <a:ext cx="4669369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Panel de Control y Citas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434394" y="6094756"/>
            <a:ext cx="4169314" cy="41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Mód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ulo 04 — Veterinario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434394" y="8326475"/>
            <a:ext cx="416931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Registro de</a:t>
            </a:r>
            <a:r>
              <a:rPr lang="en-US" b="true" sz="1400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temperatura (°C), peso (Kg), fotos de evidencia, síntomas observados, diagnóstico y receta médica.</a:t>
            </a:r>
          </a:p>
          <a:p>
            <a:pPr algn="just">
              <a:lnSpc>
                <a:spcPts val="1540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7186861" y="5902562"/>
            <a:ext cx="4169314" cy="62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</a:t>
            </a:r>
            <a:r>
              <a:rPr lang="en-US" b="true" sz="1400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ualización de Citas Programadas del día y gestión de Rescates Pendientes de Expediente.</a:t>
            </a:r>
          </a:p>
          <a:p>
            <a:pPr algn="just">
              <a:lnSpc>
                <a:spcPts val="154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7126889" y="8326475"/>
            <a:ext cx="4169314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Control del</a:t>
            </a:r>
            <a:r>
              <a:rPr lang="en-US" b="true" sz="1400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esquema de dosis/refuerzos con frecuencia programada y motor de búsqueda de pacientes por ID o Nombre.</a:t>
            </a:r>
          </a:p>
          <a:p>
            <a:pPr algn="just">
              <a:lnSpc>
                <a:spcPts val="154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7126889" y="7746852"/>
            <a:ext cx="4669369" cy="84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Vacunación y Búsqueda de Pacientes</a:t>
            </a:r>
          </a:p>
          <a:p>
            <a:pPr algn="l">
              <a:lnSpc>
                <a:spcPts val="220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34394" y="7865609"/>
            <a:ext cx="4718124" cy="570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Evaluación Clínica y Síntomas</a:t>
            </a:r>
          </a:p>
          <a:p>
            <a:pPr algn="l">
              <a:lnSpc>
                <a:spcPts val="22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479095"/>
            <a:ext cx="16230600" cy="0"/>
          </a:xfrm>
          <a:prstGeom prst="line">
            <a:avLst/>
          </a:prstGeom>
          <a:ln cap="flat" w="9525">
            <a:solidFill>
              <a:srgbClr val="868E9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4122995"/>
            <a:ext cx="3541463" cy="3533385"/>
            <a:chOff x="0" y="0"/>
            <a:chExt cx="1140861" cy="11382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0861" cy="1138258"/>
            </a:xfrm>
            <a:custGeom>
              <a:avLst/>
              <a:gdLst/>
              <a:ahLst/>
              <a:cxnLst/>
              <a:rect r="r" b="b" t="t" l="l"/>
              <a:pathLst>
                <a:path h="1138258" w="1140861">
                  <a:moveTo>
                    <a:pt x="98374" y="0"/>
                  </a:moveTo>
                  <a:lnTo>
                    <a:pt x="1042487" y="0"/>
                  </a:lnTo>
                  <a:cubicBezTo>
                    <a:pt x="1068577" y="0"/>
                    <a:pt x="1093599" y="10364"/>
                    <a:pt x="1112048" y="28813"/>
                  </a:cubicBezTo>
                  <a:cubicBezTo>
                    <a:pt x="1130496" y="47262"/>
                    <a:pt x="1140861" y="72283"/>
                    <a:pt x="1140861" y="98374"/>
                  </a:cubicBezTo>
                  <a:lnTo>
                    <a:pt x="1140861" y="1039885"/>
                  </a:lnTo>
                  <a:cubicBezTo>
                    <a:pt x="1140861" y="1094215"/>
                    <a:pt x="1096817" y="1138258"/>
                    <a:pt x="1042487" y="1138258"/>
                  </a:cubicBezTo>
                  <a:lnTo>
                    <a:pt x="98374" y="1138258"/>
                  </a:lnTo>
                  <a:cubicBezTo>
                    <a:pt x="72283" y="1138258"/>
                    <a:pt x="47262" y="1127894"/>
                    <a:pt x="28813" y="1109445"/>
                  </a:cubicBezTo>
                  <a:cubicBezTo>
                    <a:pt x="10364" y="1090997"/>
                    <a:pt x="0" y="1065975"/>
                    <a:pt x="0" y="1039885"/>
                  </a:cubicBezTo>
                  <a:lnTo>
                    <a:pt x="0" y="98374"/>
                  </a:lnTo>
                  <a:cubicBezTo>
                    <a:pt x="0" y="72283"/>
                    <a:pt x="10364" y="47262"/>
                    <a:pt x="28813" y="28813"/>
                  </a:cubicBezTo>
                  <a:cubicBezTo>
                    <a:pt x="47262" y="10364"/>
                    <a:pt x="72283" y="0"/>
                    <a:pt x="98374" y="0"/>
                  </a:cubicBezTo>
                  <a:close/>
                </a:path>
              </a:pathLst>
            </a:custGeom>
            <a:blipFill>
              <a:blip r:embed="rId2"/>
              <a:stretch>
                <a:fillRect l="-16514" t="0" r="-16514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258412" y="4122995"/>
            <a:ext cx="3541463" cy="3533385"/>
            <a:chOff x="0" y="0"/>
            <a:chExt cx="1140861" cy="11382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0861" cy="1138258"/>
            </a:xfrm>
            <a:custGeom>
              <a:avLst/>
              <a:gdLst/>
              <a:ahLst/>
              <a:cxnLst/>
              <a:rect r="r" b="b" t="t" l="l"/>
              <a:pathLst>
                <a:path h="1138258" w="1140861">
                  <a:moveTo>
                    <a:pt x="98374" y="0"/>
                  </a:moveTo>
                  <a:lnTo>
                    <a:pt x="1042487" y="0"/>
                  </a:lnTo>
                  <a:cubicBezTo>
                    <a:pt x="1068577" y="0"/>
                    <a:pt x="1093599" y="10364"/>
                    <a:pt x="1112048" y="28813"/>
                  </a:cubicBezTo>
                  <a:cubicBezTo>
                    <a:pt x="1130496" y="47262"/>
                    <a:pt x="1140861" y="72283"/>
                    <a:pt x="1140861" y="98374"/>
                  </a:cubicBezTo>
                  <a:lnTo>
                    <a:pt x="1140861" y="1039885"/>
                  </a:lnTo>
                  <a:cubicBezTo>
                    <a:pt x="1140861" y="1094215"/>
                    <a:pt x="1096817" y="1138258"/>
                    <a:pt x="1042487" y="1138258"/>
                  </a:cubicBezTo>
                  <a:lnTo>
                    <a:pt x="98374" y="1138258"/>
                  </a:lnTo>
                  <a:cubicBezTo>
                    <a:pt x="72283" y="1138258"/>
                    <a:pt x="47262" y="1127894"/>
                    <a:pt x="28813" y="1109445"/>
                  </a:cubicBezTo>
                  <a:cubicBezTo>
                    <a:pt x="10364" y="1090997"/>
                    <a:pt x="0" y="1065975"/>
                    <a:pt x="0" y="1039885"/>
                  </a:cubicBezTo>
                  <a:lnTo>
                    <a:pt x="0" y="98374"/>
                  </a:lnTo>
                  <a:cubicBezTo>
                    <a:pt x="0" y="72283"/>
                    <a:pt x="10364" y="47262"/>
                    <a:pt x="28813" y="28813"/>
                  </a:cubicBezTo>
                  <a:cubicBezTo>
                    <a:pt x="47262" y="10364"/>
                    <a:pt x="72283" y="0"/>
                    <a:pt x="98374" y="0"/>
                  </a:cubicBezTo>
                  <a:close/>
                </a:path>
              </a:pathLst>
            </a:custGeom>
            <a:blipFill>
              <a:blip r:embed="rId3"/>
              <a:stretch>
                <a:fillRect l="-13378" t="0" r="-13378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88125" y="4122995"/>
            <a:ext cx="3541463" cy="3533385"/>
            <a:chOff x="0" y="0"/>
            <a:chExt cx="1140861" cy="11382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0861" cy="1138258"/>
            </a:xfrm>
            <a:custGeom>
              <a:avLst/>
              <a:gdLst/>
              <a:ahLst/>
              <a:cxnLst/>
              <a:rect r="r" b="b" t="t" l="l"/>
              <a:pathLst>
                <a:path h="1138258" w="1140861">
                  <a:moveTo>
                    <a:pt x="98374" y="0"/>
                  </a:moveTo>
                  <a:lnTo>
                    <a:pt x="1042487" y="0"/>
                  </a:lnTo>
                  <a:cubicBezTo>
                    <a:pt x="1068577" y="0"/>
                    <a:pt x="1093599" y="10364"/>
                    <a:pt x="1112048" y="28813"/>
                  </a:cubicBezTo>
                  <a:cubicBezTo>
                    <a:pt x="1130496" y="47262"/>
                    <a:pt x="1140861" y="72283"/>
                    <a:pt x="1140861" y="98374"/>
                  </a:cubicBezTo>
                  <a:lnTo>
                    <a:pt x="1140861" y="1039885"/>
                  </a:lnTo>
                  <a:cubicBezTo>
                    <a:pt x="1140861" y="1094215"/>
                    <a:pt x="1096817" y="1138258"/>
                    <a:pt x="1042487" y="1138258"/>
                  </a:cubicBezTo>
                  <a:lnTo>
                    <a:pt x="98374" y="1138258"/>
                  </a:lnTo>
                  <a:cubicBezTo>
                    <a:pt x="72283" y="1138258"/>
                    <a:pt x="47262" y="1127894"/>
                    <a:pt x="28813" y="1109445"/>
                  </a:cubicBezTo>
                  <a:cubicBezTo>
                    <a:pt x="10364" y="1090997"/>
                    <a:pt x="0" y="1065975"/>
                    <a:pt x="0" y="1039885"/>
                  </a:cubicBezTo>
                  <a:lnTo>
                    <a:pt x="0" y="98374"/>
                  </a:lnTo>
                  <a:cubicBezTo>
                    <a:pt x="0" y="72283"/>
                    <a:pt x="10364" y="47262"/>
                    <a:pt x="28813" y="28813"/>
                  </a:cubicBezTo>
                  <a:cubicBezTo>
                    <a:pt x="47262" y="10364"/>
                    <a:pt x="72283" y="0"/>
                    <a:pt x="98374" y="0"/>
                  </a:cubicBezTo>
                  <a:close/>
                </a:path>
              </a:pathLst>
            </a:custGeom>
            <a:blipFill>
              <a:blip r:embed="rId4"/>
              <a:stretch>
                <a:fillRect l="-5092" t="0" r="-44492" b="0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7837" y="4122995"/>
            <a:ext cx="3541463" cy="3533385"/>
            <a:chOff x="0" y="0"/>
            <a:chExt cx="1140861" cy="11382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0861" cy="1138258"/>
            </a:xfrm>
            <a:custGeom>
              <a:avLst/>
              <a:gdLst/>
              <a:ahLst/>
              <a:cxnLst/>
              <a:rect r="r" b="b" t="t" l="l"/>
              <a:pathLst>
                <a:path h="1138258" w="1140861">
                  <a:moveTo>
                    <a:pt x="98374" y="0"/>
                  </a:moveTo>
                  <a:lnTo>
                    <a:pt x="1042487" y="0"/>
                  </a:lnTo>
                  <a:cubicBezTo>
                    <a:pt x="1068577" y="0"/>
                    <a:pt x="1093599" y="10364"/>
                    <a:pt x="1112048" y="28813"/>
                  </a:cubicBezTo>
                  <a:cubicBezTo>
                    <a:pt x="1130496" y="47262"/>
                    <a:pt x="1140861" y="72283"/>
                    <a:pt x="1140861" y="98374"/>
                  </a:cubicBezTo>
                  <a:lnTo>
                    <a:pt x="1140861" y="1039885"/>
                  </a:lnTo>
                  <a:cubicBezTo>
                    <a:pt x="1140861" y="1094215"/>
                    <a:pt x="1096817" y="1138258"/>
                    <a:pt x="1042487" y="1138258"/>
                  </a:cubicBezTo>
                  <a:lnTo>
                    <a:pt x="98374" y="1138258"/>
                  </a:lnTo>
                  <a:cubicBezTo>
                    <a:pt x="72283" y="1138258"/>
                    <a:pt x="47262" y="1127894"/>
                    <a:pt x="28813" y="1109445"/>
                  </a:cubicBezTo>
                  <a:cubicBezTo>
                    <a:pt x="10364" y="1090997"/>
                    <a:pt x="0" y="1065975"/>
                    <a:pt x="0" y="1039885"/>
                  </a:cubicBezTo>
                  <a:lnTo>
                    <a:pt x="0" y="98374"/>
                  </a:lnTo>
                  <a:cubicBezTo>
                    <a:pt x="0" y="72283"/>
                    <a:pt x="10364" y="47262"/>
                    <a:pt x="28813" y="28813"/>
                  </a:cubicBezTo>
                  <a:cubicBezTo>
                    <a:pt x="47262" y="10364"/>
                    <a:pt x="72283" y="0"/>
                    <a:pt x="98374" y="0"/>
                  </a:cubicBezTo>
                  <a:close/>
                </a:path>
              </a:pathLst>
            </a:custGeom>
            <a:blipFill>
              <a:blip r:embed="rId5"/>
              <a:stretch>
                <a:fillRect l="-11736" t="-3972" r="-20903" b="-83799"/>
              </a:stretch>
            </a:blipFill>
            <a:ln w="9525" cap="rnd">
              <a:solidFill>
                <a:srgbClr val="EE6703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2186281"/>
            <a:ext cx="9519972" cy="1298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b="true" sz="5000" spc="-50">
                <a:solidFill>
                  <a:srgbClr val="28323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Rescate y Adopción</a:t>
            </a:r>
          </a:p>
          <a:p>
            <a:pPr algn="l">
              <a:lnSpc>
                <a:spcPts val="50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564820"/>
            <a:ext cx="11246446" cy="66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50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Fases 1/2/3/4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163798"/>
            <a:ext cx="3541463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2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Alerta &amp; Rescate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08688"/>
            <a:ext cx="3541463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usuario reporta una alerta. El Rescatista acude al lugar y crea la Ficha de Rescate.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258412" y="8163798"/>
            <a:ext cx="3541463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2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Atención Médica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258412" y="8808688"/>
            <a:ext cx="3541463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Veterinari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 realiza el chequeo, asigna tratamiento y genera las credenciales clínicas.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488125" y="8163798"/>
            <a:ext cx="3541463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2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Postulac</a:t>
            </a:r>
            <a:r>
              <a:rPr lang="en-US" b="true" sz="2400" spc="-24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ión CV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488125" y="8808688"/>
            <a:ext cx="3541463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Adoptante completa su CV oficial y solicita la mascota desde el catálogo público.</a:t>
            </a:r>
          </a:p>
          <a:p>
            <a:pPr algn="l">
              <a:lnSpc>
                <a:spcPts val="15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717837" y="8163798"/>
            <a:ext cx="3541463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spc="-24" b="true">
                <a:solidFill>
                  <a:srgbClr val="EE6703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Aprobación Admin</a:t>
            </a:r>
          </a:p>
          <a:p>
            <a:pPr algn="l">
              <a:lnSpc>
                <a:spcPts val="2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717837" y="8808688"/>
            <a:ext cx="3541463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 Adminis</a:t>
            </a:r>
            <a:r>
              <a:rPr lang="en-US" sz="1400" b="true">
                <a:solidFill>
                  <a:srgbClr val="6E77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trador evalúa la solicitud y autoriza la entrega de la mascota al nuevo hogar.</a:t>
            </a:r>
          </a:p>
          <a:p>
            <a:pPr algn="l">
              <a:lnSpc>
                <a:spcPts val="15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DAHZcUaKGRU</dc:identifier>
  <dcterms:modified xsi:type="dcterms:W3CDTF">2011-08-01T06:04:30Z</dcterms:modified>
  <cp:revision>1</cp:revision>
  <dc:title>Refugio Estelar Laika</dc:title>
</cp:coreProperties>
</file>